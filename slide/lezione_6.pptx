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acd9a8ce44230" /><Relationship Type="http://schemas.openxmlformats.org/officeDocument/2006/relationships/extended-properties" Target="/docProps/app.xml" Id="Rca978f527fcc4b65" /><Relationship Type="http://schemas.openxmlformats.org/officeDocument/2006/relationships/officeDocument" Target="/ppt/presentation.xml" Id="R0be5d938c69f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4d07f2ddf446ac"/>
  </p:sldMasterIdLst>
  <p:notesMasterIdLst>
    <p:notesMasterId xmlns:r="http://schemas.openxmlformats.org/officeDocument/2006/relationships" r:id="R075d3156ba91447d"/>
  </p:notesMasterIdLst>
  <p:sldIdLst>
    <p:sldId xmlns:r="http://schemas.openxmlformats.org/officeDocument/2006/relationships" id="256" r:id="R5736a386e7d44e24"/>
    <p:sldId xmlns:r="http://schemas.openxmlformats.org/officeDocument/2006/relationships" id="257" r:id="Rb40f2593afbc4976"/>
    <p:sldId xmlns:r="http://schemas.openxmlformats.org/officeDocument/2006/relationships" id="258" r:id="R9b706e0aad12445b"/>
    <p:sldId xmlns:r="http://schemas.openxmlformats.org/officeDocument/2006/relationships" id="259" r:id="R8ec0fbe365a04e3d"/>
    <p:sldId xmlns:r="http://schemas.openxmlformats.org/officeDocument/2006/relationships" id="260" r:id="Rd5f367acafd541fd"/>
    <p:sldId xmlns:r="http://schemas.openxmlformats.org/officeDocument/2006/relationships" id="261" r:id="R40579b5bc5874d7e"/>
    <p:sldId xmlns:r="http://schemas.openxmlformats.org/officeDocument/2006/relationships" id="262" r:id="Rde1223f871df46e2"/>
    <p:sldId xmlns:r="http://schemas.openxmlformats.org/officeDocument/2006/relationships" id="263" r:id="R1cdebd33517e41a3"/>
    <p:sldId xmlns:r="http://schemas.openxmlformats.org/officeDocument/2006/relationships" id="264" r:id="R394e8ae68d1d44ec"/>
    <p:sldId xmlns:r="http://schemas.openxmlformats.org/officeDocument/2006/relationships" id="265" r:id="R82921b7cc0244cae"/>
    <p:sldId xmlns:r="http://schemas.openxmlformats.org/officeDocument/2006/relationships" id="266" r:id="Rb786285c664045ff"/>
    <p:sldId xmlns:r="http://schemas.openxmlformats.org/officeDocument/2006/relationships" id="267" r:id="Rc119b4317ff34d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f5c7a5203f4ea9" /><Relationship Type="http://schemas.openxmlformats.org/officeDocument/2006/relationships/slideMaster" Target="/ppt/slideMasters/slideMaster1.xml" Id="R924d07f2ddf446ac" /><Relationship Type="http://schemas.openxmlformats.org/officeDocument/2006/relationships/notesMaster" Target="/ppt/notesMasters/notesMaster1.xml" Id="R075d3156ba91447d" /><Relationship Type="http://schemas.openxmlformats.org/officeDocument/2006/relationships/presProps" Target="/ppt/presProps.xml" Id="Rc350e1ee6e2f4010" /><Relationship Type="http://schemas.openxmlformats.org/officeDocument/2006/relationships/tableStyles" Target="/ppt/tableStyles.xml" Id="Rb7b8eb6f80674e89" /><Relationship Type="http://schemas.openxmlformats.org/officeDocument/2006/relationships/slide" Target="/ppt/slides/slide1.xml" Id="R5736a386e7d44e24" /><Relationship Type="http://schemas.openxmlformats.org/officeDocument/2006/relationships/slide" Target="/ppt/slides/slide2.xml" Id="Rb40f2593afbc4976" /><Relationship Type="http://schemas.openxmlformats.org/officeDocument/2006/relationships/slide" Target="/ppt/slides/slide3.xml" Id="R9b706e0aad12445b" /><Relationship Type="http://schemas.openxmlformats.org/officeDocument/2006/relationships/slide" Target="/ppt/slides/slide4.xml" Id="R8ec0fbe365a04e3d" /><Relationship Type="http://schemas.openxmlformats.org/officeDocument/2006/relationships/slide" Target="/ppt/slides/slide5.xml" Id="Rd5f367acafd541fd" /><Relationship Type="http://schemas.openxmlformats.org/officeDocument/2006/relationships/slide" Target="/ppt/slides/slide6.xml" Id="R40579b5bc5874d7e" /><Relationship Type="http://schemas.openxmlformats.org/officeDocument/2006/relationships/slide" Target="/ppt/slides/slide7.xml" Id="Rde1223f871df46e2" /><Relationship Type="http://schemas.openxmlformats.org/officeDocument/2006/relationships/slide" Target="/ppt/slides/slide8.xml" Id="R1cdebd33517e41a3" /><Relationship Type="http://schemas.openxmlformats.org/officeDocument/2006/relationships/slide" Target="/ppt/slides/slide9.xml" Id="R394e8ae68d1d44ec" /><Relationship Type="http://schemas.openxmlformats.org/officeDocument/2006/relationships/slide" Target="/ppt/slides/slide10.xml" Id="R82921b7cc0244cae" /><Relationship Type="http://schemas.openxmlformats.org/officeDocument/2006/relationships/slide" Target="/ppt/slides/slide11.xml" Id="Rb786285c664045ff" /><Relationship Type="http://schemas.openxmlformats.org/officeDocument/2006/relationships/slide" Target="/ppt/slides/slide12.xml" Id="Rc119b4317ff34d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61c4d2bf749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f599dcfe47432e" /><Relationship Type="http://schemas.openxmlformats.org/officeDocument/2006/relationships/notesMaster" Target="/ppt/notesMasters/notesMaster1.xml" Id="R1d9bc6591b4845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2e0dea96874aea" /><Relationship Type="http://schemas.openxmlformats.org/officeDocument/2006/relationships/notesMaster" Target="/ppt/notesMasters/notesMaster1.xml" Id="R20a2f6fc6fa149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dbd72033c4eda" /><Relationship Type="http://schemas.openxmlformats.org/officeDocument/2006/relationships/notesMaster" Target="/ppt/notesMasters/notesMaster1.xml" Id="Rb9411ded541d42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0db0ba810415d" /><Relationship Type="http://schemas.openxmlformats.org/officeDocument/2006/relationships/notesMaster" Target="/ppt/notesMasters/notesMaster1.xml" Id="R89a346692807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5520cfe64f409f" /><Relationship Type="http://schemas.openxmlformats.org/officeDocument/2006/relationships/notesMaster" Target="/ppt/notesMasters/notesMaster1.xml" Id="Rb1630464b2f044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57c887ab7455f" /><Relationship Type="http://schemas.openxmlformats.org/officeDocument/2006/relationships/notesMaster" Target="/ppt/notesMasters/notesMaster1.xml" Id="R81d79a55c28f41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02fdcde1494ae7" /><Relationship Type="http://schemas.openxmlformats.org/officeDocument/2006/relationships/notesMaster" Target="/ppt/notesMasters/notesMaster1.xml" Id="R3f59ad6f030146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4f113ad2e541a8" /><Relationship Type="http://schemas.openxmlformats.org/officeDocument/2006/relationships/notesMaster" Target="/ppt/notesMasters/notesMaster1.xml" Id="Re24388cfa4244f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7d7b43a43d42c6" /><Relationship Type="http://schemas.openxmlformats.org/officeDocument/2006/relationships/notesMaster" Target="/ppt/notesMasters/notesMaster1.xml" Id="Rbdf621e56ee740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13e62ede8d409c" /><Relationship Type="http://schemas.openxmlformats.org/officeDocument/2006/relationships/notesMaster" Target="/ppt/notesMasters/notesMaster1.xml" Id="Raa4e502dd0974f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b47856aa694e12" /><Relationship Type="http://schemas.openxmlformats.org/officeDocument/2006/relationships/notesMaster" Target="/ppt/notesMasters/notesMaster1.xml" Id="Rd03134ad12b544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b32e244bcf4ac0" /><Relationship Type="http://schemas.openxmlformats.org/officeDocument/2006/relationships/notesMaster" Target="/ppt/notesMasters/notesMaster1.xml" Id="R68a2f8c60bbe46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codice/6/lezione_6.R. Tariffe inventate per il laboratorio. Gli importi sono non negativi. Definire prima la funzione e poi eseguire le due chiamate.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file lezione_6.R seguono assegnazione del risultato a una variabile, confronto con l’atteso e chiamata della funzione dentro un ciclo. Le variabili definite nel corpo sono locali.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codice/6/biglietti_ricorsione.R. Il caso base usa &lt;= 0 perché un carnet può coprire più viaggi di quelli richiesti. Usare numeri piccoli per seguire le chiamate: questa versione ricalcola sottoproblemi.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codice/6/spesa_ecommerce.R. I prezzi sono positivi. Non ci sono sconti né soglie di spedizione gratuita. Il risultato richiesto è il costo minimo, non il vettore della scelta vincente. Tariffe inventate.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catalogo del file: prodotti &lt;- c("Carta", "Penne", "Cartucce"); prezzi_a &lt;- c(20, 30, 40); prezzi_b &lt;- c(22, 32, 38). La selezione logica sceglie i prodotti assegnati al negozio. sum(numeric(0)) restituisce zero. Le funzioni leggono questi dati esterni per mantenere un solo argomento.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codice/6/spesa_ecommerce.R. Il caso base delega il conto a costo(). La ricorsione esplora prima A e poi B. Ogni chiamata restituisce il costo minimo compatibile con il prefisso di scelte ricevuto.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Valori verificati eseguendo il codice R. A-A-A: 20+30+40+8 = 98. A-A-B: 20+30+38+8+8 = 104. La funzione restituisce il costo minimo; il negozio vincente qui si legge dal confronto delle otto righe.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Materiali: codice/6/lezione_6.R, codice/6/biglietti_ricorsione.R, codice/6/spesa_ecommerce.R. Far motivare il caso base e il passo che avvicina alla fine. Nessuna dipendenza R da installare.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a95311f8d42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c322434f54d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ecf77597c49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14fa1b0e354c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ce8879d2948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e95f6dd0341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BAEBC1-4195-4DDC-938A-392314872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8307D0-9627-4D69-B305-EC9207DA23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9850CB-41F6-4EB2-A00D-99DAAC4D9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4883B1-586D-49E1-BD8E-C3BEB7D08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87C111-483E-49C8-945E-F13E2ADBB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8AB923-620F-4227-A9B5-2E94E582F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501403-1AB0-4037-A6AC-96C2DF23E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11A99A3-606E-4C44-88CB-B0A602E39E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CBE21-4FF3-4485-9D76-1CFE555A3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2EB698-2AE1-4924-9179-4C0CE7A067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76c5f6cb19479b" /><Relationship Type="http://schemas.openxmlformats.org/officeDocument/2006/relationships/slideLayout" Target="/ppt/slideLayouts/slideLayout1.xml" Id="R72eeed17d533402a" /><Relationship Type="http://schemas.openxmlformats.org/officeDocument/2006/relationships/slideLayout" Target="/ppt/slideLayouts/slideLayout2.xml" Id="R9b3c36d1322645f0" /><Relationship Type="http://schemas.openxmlformats.org/officeDocument/2006/relationships/slideLayout" Target="/ppt/slideLayouts/slideLayout3.xml" Id="Ra59d0661140b4fbe" /><Relationship Type="http://schemas.openxmlformats.org/officeDocument/2006/relationships/slideLayout" Target="/ppt/slideLayouts/slideLayout4.xml" Id="Rc3ef4eb72d194a33" /><Relationship Type="http://schemas.openxmlformats.org/officeDocument/2006/relationships/slideLayout" Target="/ppt/slideLayouts/slideLayout5.xml" Id="R359ae1b172e24b93" /><Relationship Type="http://schemas.openxmlformats.org/officeDocument/2006/relationships/slideLayout" Target="/ppt/slideLayouts/slideLayout6.xml" Id="R6f219ae6135e4e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eed17d533402a"/>
    <p:sldLayoutId xmlns:r="http://schemas.openxmlformats.org/officeDocument/2006/relationships" id="2147483650" r:id="R9b3c36d1322645f0"/>
    <p:sldLayoutId xmlns:r="http://schemas.openxmlformats.org/officeDocument/2006/relationships" id="2147483651" r:id="Ra59d0661140b4fbe"/>
    <p:sldLayoutId xmlns:r="http://schemas.openxmlformats.org/officeDocument/2006/relationships" id="2147483652" r:id="Rc3ef4eb72d194a33"/>
    <p:sldLayoutId xmlns:r="http://schemas.openxmlformats.org/officeDocument/2006/relationships" id="2147483653" r:id="R359ae1b172e24b93"/>
    <p:sldLayoutId xmlns:r="http://schemas.openxmlformats.org/officeDocument/2006/relationships" id="2147483654" r:id="R6f219ae6135e4e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065368e824171" /><Relationship Type="http://schemas.openxmlformats.org/officeDocument/2006/relationships/notesSlide" Target="/ppt/notesSlides/notesSlide1.xml" Id="Rb9b623777f6f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375b02bfc4450" /><Relationship Type="http://schemas.openxmlformats.org/officeDocument/2006/relationships/notesSlide" Target="/ppt/notesSlides/notesSlide2.xml" Id="R18f30c88595d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d6279134a4d05" /><Relationship Type="http://schemas.openxmlformats.org/officeDocument/2006/relationships/notesSlide" Target="/ppt/notesSlides/notesSlide3.xml" Id="R0000161c62484b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080c69910413f" /><Relationship Type="http://schemas.openxmlformats.org/officeDocument/2006/relationships/notesSlide" Target="/ppt/notesSlides/notesSlide4.xml" Id="Rfedbe5867e764b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1aefb6f374436c" /><Relationship Type="http://schemas.openxmlformats.org/officeDocument/2006/relationships/notesSlide" Target="/ppt/notesSlides/notesSlide5.xml" Id="Rb58e252f8e2d4e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1e49d27b0427b" /><Relationship Type="http://schemas.openxmlformats.org/officeDocument/2006/relationships/notesSlide" Target="/ppt/notesSlides/notesSlide6.xml" Id="R0fd60d6ebfb848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55b4413174298" /><Relationship Type="http://schemas.openxmlformats.org/officeDocument/2006/relationships/notesSlide" Target="/ppt/notesSlides/notesSlide7.xml" Id="R5e7fe780831b49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d6a72340c4a40" /><Relationship Type="http://schemas.openxmlformats.org/officeDocument/2006/relationships/notesSlide" Target="/ppt/notesSlides/notesSlide8.xml" Id="R3013239a45a94f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756de610f4298" /><Relationship Type="http://schemas.openxmlformats.org/officeDocument/2006/relationships/notesSlide" Target="/ppt/notesSlides/notesSlide9.xml" Id="Rdf56c7c2ae5441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1e28c37b8473b" /><Relationship Type="http://schemas.openxmlformats.org/officeDocument/2006/relationships/notesSlide" Target="/ppt/notesSlides/notesSlide10.xml" Id="Rc02337650f094d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6869f906c47c0" /><Relationship Type="http://schemas.openxmlformats.org/officeDocument/2006/relationships/notesSlide" Target="/ppt/notesSlides/notesSlide11.xml" Id="R4ceaba0ba1b64f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cb8172c644c61" /><Relationship Type="http://schemas.openxmlformats.org/officeDocument/2006/relationships/notesSlide" Target="/ppt/notesSlides/notesSlide12.xml" Id="R9fed6503443c4e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ding e Fondamenti di">
            <a:extLst xmlns:a="http://schemas.openxmlformats.org/drawingml/2006/main">
              <a:ext uri="{FF2B5EF4-FFF2-40B4-BE49-F238E27FC236}">
                <a16:creationId xmlns:a16="http://schemas.microsoft.com/office/drawing/2014/main" id="{93BAB702-C642-4D5C-BD56-63FB72BF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95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Coding e Fondamenti di</a:t>
            </a:r>
          </a:p>
        </p:txBody>
      </p:sp>
      <p:sp>
        <p:nvSpPr>
          <p:cNvPr id="2" name="Intelligenza Artificiale">
            <a:extLst xmlns:a="http://schemas.openxmlformats.org/drawingml/2006/main">
              <a:ext uri="{FF2B5EF4-FFF2-40B4-BE49-F238E27FC236}">
                <a16:creationId xmlns:a16="http://schemas.microsoft.com/office/drawing/2014/main" id="{627C77A4-F137-440F-B374-A716DAC9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4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Intelligenza Artificiale</a:t>
            </a:r>
          </a:p>
        </p:txBody>
      </p:sp>
      <p:sp>
        <p:nvSpPr>
          <p:cNvPr id="3" name="A.A. 2026/27 - Lezione 6">
            <a:extLst xmlns:a="http://schemas.openxmlformats.org/drawingml/2006/main">
              <a:ext uri="{FF2B5EF4-FFF2-40B4-BE49-F238E27FC236}">
                <a16:creationId xmlns:a16="http://schemas.microsoft.com/office/drawing/2014/main" id="{847525A3-AB07-4973-A661-089B9015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A.A. 2026/27 - Lezione 6</a:t>
            </a:r>
          </a:p>
        </p:txBody>
      </p:sp>
      <p:sp>
        <p:nvSpPr>
          <p:cNvPr id="4" name="Funzioni e ricorsione">
            <a:extLst xmlns:a="http://schemas.openxmlformats.org/drawingml/2006/main">
              <a:ext uri="{FF2B5EF4-FFF2-40B4-BE49-F238E27FC236}">
                <a16:creationId xmlns:a16="http://schemas.microsoft.com/office/drawing/2014/main" id="{CB48A161-0E10-4D9B-AD2D-434E1792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0">
                <a:solidFill>
                  <a:srgbClr val="143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0">
                <a:solidFill>
                  <a:srgbClr val="14345B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4345B"/>
                </a:solidFill>
                <a:latin typeface="Arial"/>
                <a:ea typeface="Arial"/>
                <a:cs typeface="Arial"/>
              </a:rPr>
              <a:t>Funzioni e ricorsione</a:t>
            </a:r>
          </a:p>
        </p:txBody>
      </p:sp>
      <p:sp>
        <p:nvSpPr>
          <p:cNvPr id="5" name="Vincenzo Nardelli">
            <a:extLst xmlns:a="http://schemas.openxmlformats.org/drawingml/2006/main">
              <a:ext uri="{FF2B5EF4-FFF2-40B4-BE49-F238E27FC236}">
                <a16:creationId xmlns:a16="http://schemas.microsoft.com/office/drawing/2014/main" id="{7AC379EF-9CED-4305-8462-4641D3B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Vincenzo Nardelli</a:t>
            </a:r>
          </a:p>
        </p:txBody>
      </p:sp>
      <p:sp>
        <p:nvSpPr>
          <p:cNvPr id="6" name="vincenzo.nardelli@unicatt.it">
            <a:extLst xmlns:a="http://schemas.openxmlformats.org/drawingml/2006/main">
              <a:ext uri="{FF2B5EF4-FFF2-40B4-BE49-F238E27FC236}">
                <a16:creationId xmlns:a16="http://schemas.microsoft.com/office/drawing/2014/main" id="{4892D93E-8968-46AF-92E1-32F428F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vincenzo.nardelli@unicatt.it</a:t>
            </a:r>
          </a:p>
        </p:txBody>
      </p:sp>
      <p:sp>
        <p:nvSpPr>
          <p:cNvPr id="7" name="vincnardelli.com/cia">
            <a:extLst xmlns:a="http://schemas.openxmlformats.org/drawingml/2006/main">
              <a:ext uri="{FF2B5EF4-FFF2-40B4-BE49-F238E27FC236}">
                <a16:creationId xmlns:a16="http://schemas.microsoft.com/office/drawing/2014/main" id="{ED7E9ED4-0F2D-42B8-A93C-91B93FD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434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4345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345B"/>
                </a:solidFill>
                <a:latin typeface="Arial"/>
                <a:ea typeface="Arial"/>
                <a:cs typeface="Arial"/>
              </a:rPr>
              <a:t>vincnardelli.com/cia</a:t>
            </a:r>
          </a:p>
        </p:txBody>
      </p:sp>
    </p:spTree>
    <p:extLst>
      <p:ext uri="{BB962C8B-B14F-4D97-AF65-F5344CB8AC3E}">
        <p14:creationId xmlns:p14="http://schemas.microsoft.com/office/powerpoint/2010/main" val="836534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9239AC-2CA1-4C2D-BACB-0F0AC35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Argomenti e valore di ritorno</a:t>
            </a:r>
          </a:p>
        </p:txBody>
      </p:sp>
      <p:sp>
        <p:nvSpPr>
          <p:cNvPr id="2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122C9BDB-288D-4DD8-94D0-B40B182B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6CCEC577-9FA0-4C57-9D91-7EFE27E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Una funzione riceve dati e restituisce un ris">
            <a:extLst xmlns:a="http://schemas.openxmlformats.org/drawingml/2006/main">
              <a:ext uri="{FF2B5EF4-FFF2-40B4-BE49-F238E27FC236}">
                <a16:creationId xmlns:a16="http://schemas.microsoft.com/office/drawing/2014/main" id="{1DA2206D-C4CF-4630-8DF3-31E51023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Una funzione riceve dati e restituisce un risultato.</a:t>
            </a:r>
          </a:p>
        </p:txBody>
      </p:sp>
      <p:sp>
        <p:nvSpPr>
          <p:cNvPr id="5" name="spedizione &lt;- function(importo){">
            <a:extLst xmlns:a="http://schemas.openxmlformats.org/drawingml/2006/main">
              <a:ext uri="{FF2B5EF4-FFF2-40B4-BE49-F238E27FC236}">
                <a16:creationId xmlns:a16="http://schemas.microsoft.com/office/drawing/2014/main" id="{D17C5BA1-4893-47A0-888B-6733FBEA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spedizione &lt;- function(importo){</a:t>
            </a:r>
          </a:p>
        </p:txBody>
      </p:sp>
      <p:sp>
        <p:nvSpPr>
          <p:cNvPr id="6" name="  if(importo == 0){">
            <a:extLst xmlns:a="http://schemas.openxmlformats.org/drawingml/2006/main">
              <a:ext uri="{FF2B5EF4-FFF2-40B4-BE49-F238E27FC236}">
                <a16:creationId xmlns:a16="http://schemas.microsoft.com/office/drawing/2014/main" id="{ACE44F95-1ADF-41C1-9B22-9096808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if(importo == 0){</a:t>
            </a:r>
          </a:p>
        </p:txBody>
      </p:sp>
      <p:sp>
        <p:nvSpPr>
          <p:cNvPr id="7" name="    return(0)">
            <a:extLst xmlns:a="http://schemas.openxmlformats.org/drawingml/2006/main">
              <a:ext uri="{FF2B5EF4-FFF2-40B4-BE49-F238E27FC236}">
                <a16:creationId xmlns:a16="http://schemas.microsoft.com/office/drawing/2014/main" id="{F3A95161-483A-41D9-A64B-DB7415E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return(0)</a:t>
            </a:r>
          </a:p>
        </p:txBody>
      </p:sp>
      <p:sp>
        <p:nvSpPr>
          <p:cNvPr id="8" name="  }else{">
            <a:extLst xmlns:a="http://schemas.openxmlformats.org/drawingml/2006/main">
              <a:ext uri="{FF2B5EF4-FFF2-40B4-BE49-F238E27FC236}">
                <a16:creationId xmlns:a16="http://schemas.microsoft.com/office/drawing/2014/main" id="{73F05875-BA2E-4078-B70E-21B34636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}else{</a:t>
            </a:r>
          </a:p>
        </p:txBody>
      </p:sp>
      <p:sp>
        <p:nvSpPr>
          <p:cNvPr id="9" name="    return(8)">
            <a:extLst xmlns:a="http://schemas.openxmlformats.org/drawingml/2006/main">
              <a:ext uri="{FF2B5EF4-FFF2-40B4-BE49-F238E27FC236}">
                <a16:creationId xmlns:a16="http://schemas.microsoft.com/office/drawing/2014/main" id="{8EA39BEB-C977-49C1-ADD4-E8FDEEE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return(8)</a:t>
            </a:r>
          </a:p>
        </p:txBody>
      </p:sp>
      <p:sp>
        <p:nvSpPr>
          <p:cNvPr id="10" name="  }">
            <a:extLst xmlns:a="http://schemas.openxmlformats.org/drawingml/2006/main">
              <a:ext uri="{FF2B5EF4-FFF2-40B4-BE49-F238E27FC236}">
                <a16:creationId xmlns:a16="http://schemas.microsoft.com/office/drawing/2014/main" id="{9E8D30C8-58C7-4ABA-82D6-7A88C05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11" name="}">
            <a:extLst xmlns:a="http://schemas.openxmlformats.org/drawingml/2006/main">
              <a:ext uri="{FF2B5EF4-FFF2-40B4-BE49-F238E27FC236}">
                <a16:creationId xmlns:a16="http://schemas.microsoft.com/office/drawing/2014/main" id="{3BBB4D08-516C-498C-BBDC-95C1609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spedizione(30) restituisce 8. spedizione(0) r">
            <a:extLst xmlns:a="http://schemas.openxmlformats.org/drawingml/2006/main">
              <a:ext uri="{FF2B5EF4-FFF2-40B4-BE49-F238E27FC236}">
                <a16:creationId xmlns:a16="http://schemas.microsoft.com/office/drawing/2014/main" id="{5044AD78-1E8C-470F-AA9D-29E1FD7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spedizione(30) restituisce 8. spedizione(0) restituisce 0.</a:t>
            </a:r>
          </a:p>
        </p:txBody>
      </p:sp>
      <p:sp>
        <p:nvSpPr>
          <p:cNvPr id="13" name="return() consegna il risultato alla riga che ">
            <a:extLst xmlns:a="http://schemas.openxmlformats.org/drawingml/2006/main">
              <a:ext uri="{FF2B5EF4-FFF2-40B4-BE49-F238E27FC236}">
                <a16:creationId xmlns:a16="http://schemas.microsoft.com/office/drawing/2014/main" id="{38BAA91C-63EB-40C1-8C0A-DE7C889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return() consegna il risultato alla riga che ha chiamato la funzione.</a:t>
            </a:r>
          </a:p>
        </p:txBody>
      </p:sp>
    </p:spTree>
    <p:extLst>
      <p:ext uri="{BB962C8B-B14F-4D97-AF65-F5344CB8AC3E}">
        <p14:creationId xmlns:p14="http://schemas.microsoft.com/office/powerpoint/2010/main" val="675483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0229D2-5FD2-478C-92F5-1F0F211D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Una funzione chiama un’altra</a:t>
            </a:r>
          </a:p>
        </p:txBody>
      </p:sp>
      <p:sp>
        <p:nvSpPr>
          <p:cNvPr id="2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FEF9EF5C-4BE7-4DFC-8761-A9B5BB4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AE673F18-FF8E-4BC5-8C6C-E3EDB4B2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totale_ordine &lt;- function(importo){">
            <a:extLst xmlns:a="http://schemas.openxmlformats.org/drawingml/2006/main">
              <a:ext uri="{FF2B5EF4-FFF2-40B4-BE49-F238E27FC236}">
                <a16:creationId xmlns:a16="http://schemas.microsoft.com/office/drawing/2014/main" id="{E4B6DB9D-07E0-4F38-8032-6877163B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totale_ordine &lt;- function(importo){</a:t>
            </a:r>
          </a:p>
        </p:txBody>
      </p:sp>
      <p:sp>
        <p:nvSpPr>
          <p:cNvPr id="5" name="  consegna &lt;- spedizione(importo)">
            <a:extLst xmlns:a="http://schemas.openxmlformats.org/drawingml/2006/main">
              <a:ext uri="{FF2B5EF4-FFF2-40B4-BE49-F238E27FC236}">
                <a16:creationId xmlns:a16="http://schemas.microsoft.com/office/drawing/2014/main" id="{51AF5CA7-5BB7-4723-AEFD-A427AE60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consegna &lt;- spedizione(importo)</a:t>
            </a:r>
          </a:p>
        </p:txBody>
      </p:sp>
      <p:sp>
        <p:nvSpPr>
          <p:cNvPr id="6" name="  totale &lt;- importo + consegna">
            <a:extLst xmlns:a="http://schemas.openxmlformats.org/drawingml/2006/main">
              <a:ext uri="{FF2B5EF4-FFF2-40B4-BE49-F238E27FC236}">
                <a16:creationId xmlns:a16="http://schemas.microsoft.com/office/drawing/2014/main" id="{8D05296B-F30C-4AFE-8574-ABC26BA5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totale &lt;- importo + consegna</a:t>
            </a:r>
          </a:p>
        </p:txBody>
      </p:sp>
      <p:sp>
        <p:nvSpPr>
          <p:cNvPr id="7" name="  return(totale)">
            <a:extLst xmlns:a="http://schemas.openxmlformats.org/drawingml/2006/main">
              <a:ext uri="{FF2B5EF4-FFF2-40B4-BE49-F238E27FC236}">
                <a16:creationId xmlns:a16="http://schemas.microsoft.com/office/drawing/2014/main" id="{25B41DA2-C2C2-4C8E-9167-3FFE7C5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return(totale)</a:t>
            </a:r>
          </a:p>
        </p:txBody>
      </p:sp>
      <p:sp>
        <p:nvSpPr>
          <p:cNvPr id="8" name="}">
            <a:extLst xmlns:a="http://schemas.openxmlformats.org/drawingml/2006/main">
              <a:ext uri="{FF2B5EF4-FFF2-40B4-BE49-F238E27FC236}">
                <a16:creationId xmlns:a16="http://schemas.microsoft.com/office/drawing/2014/main" id="{5B542112-2CB2-44BA-8072-B08EAE6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9" name="totale_ordine(30)">
            <a:extLst xmlns:a="http://schemas.openxmlformats.org/drawingml/2006/main">
              <a:ext uri="{FF2B5EF4-FFF2-40B4-BE49-F238E27FC236}">
                <a16:creationId xmlns:a16="http://schemas.microsoft.com/office/drawing/2014/main" id="{314B99BD-194A-4FB1-87E8-77ED3FC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4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totale_ordine(30)</a:t>
            </a:r>
          </a:p>
        </p:txBody>
      </p:sp>
      <p:sp>
        <p:nvSpPr>
          <p:cNvPr id="10" name="Calcola la spedizione: 8 €. Poi restituisce 3">
            <a:extLst xmlns:a="http://schemas.openxmlformats.org/drawingml/2006/main">
              <a:ext uri="{FF2B5EF4-FFF2-40B4-BE49-F238E27FC236}">
                <a16:creationId xmlns:a16="http://schemas.microsoft.com/office/drawing/2014/main" id="{B4ED132E-852E-4111-A1DC-C0CA063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Calcola la spedizione: 8 €. Poi restituisce 30 + 8 = 38 €.</a:t>
            </a:r>
          </a:p>
        </p:txBody>
      </p:sp>
      <p:sp>
        <p:nvSpPr>
          <p:cNvPr id="11" name="Il valore restituito può entrare in un altro ">
            <a:extLst xmlns:a="http://schemas.openxmlformats.org/drawingml/2006/main">
              <a:ext uri="{FF2B5EF4-FFF2-40B4-BE49-F238E27FC236}">
                <a16:creationId xmlns:a16="http://schemas.microsoft.com/office/drawing/2014/main" id="{AF8A437C-CDE6-4075-80BB-4941C353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Il valore restituito può entrare in un altro calcolo o in un confronto.</a:t>
            </a:r>
          </a:p>
        </p:txBody>
      </p:sp>
    </p:spTree>
    <p:extLst>
      <p:ext uri="{BB962C8B-B14F-4D97-AF65-F5344CB8AC3E}">
        <p14:creationId xmlns:p14="http://schemas.microsoft.com/office/powerpoint/2010/main" val="358431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AB">
            <a:extLst xmlns:a="http://schemas.openxmlformats.org/drawingml/2006/main">
              <a:ext uri="{FF2B5EF4-FFF2-40B4-BE49-F238E27FC236}">
                <a16:creationId xmlns:a16="http://schemas.microsoft.com/office/drawing/2014/main" id="{0A83B381-62A3-4D9B-907F-A8145F01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FDE182-32F3-442B-BFC6-5C1631CE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Biglietti singoli o carnet?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22DE094D-FC18-4991-B417-94FFA2CD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CD43B752-F4EF-4CD5-AAA9-BF88BA2B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Obiettivo: coprire tutti i viaggi spendendo i">
            <a:extLst xmlns:a="http://schemas.openxmlformats.org/drawingml/2006/main">
              <a:ext uri="{FF2B5EF4-FFF2-40B4-BE49-F238E27FC236}">
                <a16:creationId xmlns:a16="http://schemas.microsoft.com/office/drawing/2014/main" id="{3B1DB15B-8755-4B86-856F-384B49B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Obiettivo: coprire tutti i viaggi spendendo il meno possibile.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A0381-32BD-4E18-910E-59BE731EFCDB}"/>
              </a:ext>
            </a:extLst>
          </p:cNvPr>
          <p:cNvGraphicFramePr/>
          <p:nvPr/>
        </p:nvGraphicFramePr>
        <p:xfrm>
          <a:off xmlns:a="http://schemas.openxmlformats.org/drawingml/2006/main" x="1524000" y="2352675"/>
          <a:ext xmlns:a="http://schemas.openxmlformats.org/drawingml/2006/main" cx="91440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857500"/>
                <a:gridCol w="2095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Acquisto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Viaggi coperti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Singolo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3 €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Carnet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Input: numero intero di viaggi da fare, almen">
            <a:extLst xmlns:a="http://schemas.openxmlformats.org/drawingml/2006/main">
              <a:ext uri="{FF2B5EF4-FFF2-40B4-BE49-F238E27FC236}">
                <a16:creationId xmlns:a16="http://schemas.microsoft.com/office/drawing/2014/main" id="{5D713A2F-9D50-452C-90BB-747B7C3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Input: numero intero di viaggi da fare, almeno zero.</a:t>
            </a:r>
          </a:p>
        </p:txBody>
      </p:sp>
      <p:sp>
        <p:nvSpPr>
          <p:cNvPr id="8" name="Si possono comprare più carnet. I biglietti p">
            <a:extLst xmlns:a="http://schemas.openxmlformats.org/drawingml/2006/main">
              <a:ext uri="{FF2B5EF4-FFF2-40B4-BE49-F238E27FC236}">
                <a16:creationId xmlns:a16="http://schemas.microsoft.com/office/drawing/2014/main" id="{7607A766-71B2-4E93-9AAE-8FFA057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Si possono comprare più carnet. I biglietti possono avanzare.</a:t>
            </a:r>
          </a:p>
        </p:txBody>
      </p:sp>
      <p:sp>
        <p:nvSpPr>
          <p:cNvPr id="9" name="Output: il costo minimo. Le tariffe sono inve">
            <a:extLst xmlns:a="http://schemas.openxmlformats.org/drawingml/2006/main">
              <a:ext uri="{FF2B5EF4-FFF2-40B4-BE49-F238E27FC236}">
                <a16:creationId xmlns:a16="http://schemas.microsoft.com/office/drawing/2014/main" id="{07AA1B5D-98B0-418C-9320-D0061FC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Output: il costo minimo. Le tariffe sono inventate per l’esercizio.</a:t>
            </a:r>
          </a:p>
        </p:txBody>
      </p:sp>
    </p:spTree>
    <p:extLst>
      <p:ext uri="{BB962C8B-B14F-4D97-AF65-F5344CB8AC3E}">
        <p14:creationId xmlns:p14="http://schemas.microsoft.com/office/powerpoint/2010/main" val="154715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AB">
            <a:extLst xmlns:a="http://schemas.openxmlformats.org/drawingml/2006/main">
              <a:ext uri="{FF2B5EF4-FFF2-40B4-BE49-F238E27FC236}">
                <a16:creationId xmlns:a16="http://schemas.microsoft.com/office/drawing/2014/main" id="{646F03AA-2F2E-451A-92AC-CD67992E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B90E0-1878-48E1-85C2-F76CCB3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Il costo dei viaggi rimasti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EAA08CA0-503E-4CDF-ADF3-C8779A4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6F1BA05A-0D65-49E9-8ACE-FB84AE1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costo_minimo &lt;- function(viaggi){">
            <a:extLst xmlns:a="http://schemas.openxmlformats.org/drawingml/2006/main">
              <a:ext uri="{FF2B5EF4-FFF2-40B4-BE49-F238E27FC236}">
                <a16:creationId xmlns:a16="http://schemas.microsoft.com/office/drawing/2014/main" id="{2921399B-B496-4D1A-8BAE-9092AD0B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costo_minimo &lt;- function(viaggi){</a:t>
            </a:r>
          </a:p>
        </p:txBody>
      </p:sp>
      <p:sp>
        <p:nvSpPr>
          <p:cNvPr id="6" name="  if(viaggi &lt;= 0){">
            <a:extLst xmlns:a="http://schemas.openxmlformats.org/drawingml/2006/main">
              <a:ext uri="{FF2B5EF4-FFF2-40B4-BE49-F238E27FC236}">
                <a16:creationId xmlns:a16="http://schemas.microsoft.com/office/drawing/2014/main" id="{794D65EE-F36E-4760-A53A-EBA19766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if(viaggi &lt;= 0){</a:t>
            </a:r>
          </a:p>
        </p:txBody>
      </p:sp>
      <p:sp>
        <p:nvSpPr>
          <p:cNvPr id="7" name="    return(0)">
            <a:extLst xmlns:a="http://schemas.openxmlformats.org/drawingml/2006/main">
              <a:ext uri="{FF2B5EF4-FFF2-40B4-BE49-F238E27FC236}">
                <a16:creationId xmlns:a16="http://schemas.microsoft.com/office/drawing/2014/main" id="{E12D8E11-13AE-4ED2-8B2C-CFD2C0C0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return(0)</a:t>
            </a:r>
          </a:p>
        </p:txBody>
      </p:sp>
      <p:sp>
        <p:nvSpPr>
          <p:cNvPr id="8" name="  }">
            <a:extLst xmlns:a="http://schemas.openxmlformats.org/drawingml/2006/main">
              <a:ext uri="{FF2B5EF4-FFF2-40B4-BE49-F238E27FC236}">
                <a16:creationId xmlns:a16="http://schemas.microsoft.com/office/drawing/2014/main" id="{E106E7D0-BE61-4A5C-8626-85A13A5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9" name="  con_singolo &lt;- 3 + costo_minimo(viaggi - 1)">
            <a:extLst xmlns:a="http://schemas.openxmlformats.org/drawingml/2006/main">
              <a:ext uri="{FF2B5EF4-FFF2-40B4-BE49-F238E27FC236}">
                <a16:creationId xmlns:a16="http://schemas.microsoft.com/office/drawing/2014/main" id="{53B076E7-A2AC-4446-A1A1-A23C23BD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con_singolo &lt;- 3 + costo_minimo(viaggi - 1)</a:t>
            </a:r>
          </a:p>
        </p:txBody>
      </p:sp>
      <p:sp>
        <p:nvSpPr>
          <p:cNvPr id="10" name="  con_carnet &lt;- 10 + costo_minimo(viaggi - 5)">
            <a:extLst xmlns:a="http://schemas.openxmlformats.org/drawingml/2006/main">
              <a:ext uri="{FF2B5EF4-FFF2-40B4-BE49-F238E27FC236}">
                <a16:creationId xmlns:a16="http://schemas.microsoft.com/office/drawing/2014/main" id="{0251B0F5-28B9-43A4-8DA6-06998FF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con_carnet &lt;- 10 + costo_minimo(viaggi - 5)</a:t>
            </a:r>
          </a:p>
        </p:txBody>
      </p:sp>
      <p:sp>
        <p:nvSpPr>
          <p:cNvPr id="11" name="  return(min(con_singolo, con_carnet))">
            <a:extLst xmlns:a="http://schemas.openxmlformats.org/drawingml/2006/main">
              <a:ext uri="{FF2B5EF4-FFF2-40B4-BE49-F238E27FC236}">
                <a16:creationId xmlns:a16="http://schemas.microsoft.com/office/drawing/2014/main" id="{CBA4F81A-DE3E-4A93-BA75-25AB52D7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return(min(con_singolo, con_carnet))</a:t>
            </a:r>
          </a:p>
        </p:txBody>
      </p:sp>
      <p:sp>
        <p:nvSpPr>
          <p:cNvPr id="12" name="}">
            <a:extLst xmlns:a="http://schemas.openxmlformats.org/drawingml/2006/main">
              <a:ext uri="{FF2B5EF4-FFF2-40B4-BE49-F238E27FC236}">
                <a16:creationId xmlns:a16="http://schemas.microsoft.com/office/drawing/2014/main" id="{E5F15E5A-4D46-4C8E-9B6E-8B7DB92E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10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3" name="Caso base: nessun viaggio rimasto. Ogni chiam">
            <a:extLst xmlns:a="http://schemas.openxmlformats.org/drawingml/2006/main">
              <a:ext uri="{FF2B5EF4-FFF2-40B4-BE49-F238E27FC236}">
                <a16:creationId xmlns:a16="http://schemas.microsoft.com/office/drawing/2014/main" id="{D01D1C59-0AA8-477C-BAC1-8E64913E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Caso base: nessun viaggio rimasto. Ogni chiamata riduce i viaggi.</a:t>
            </a:r>
          </a:p>
        </p:txBody>
      </p:sp>
      <p:sp>
        <p:nvSpPr>
          <p:cNvPr id="14" name="min() restituisce il minore dei due costi.">
            <a:extLst xmlns:a="http://schemas.openxmlformats.org/drawingml/2006/main">
              <a:ext uri="{FF2B5EF4-FFF2-40B4-BE49-F238E27FC236}">
                <a16:creationId xmlns:a16="http://schemas.microsoft.com/office/drawing/2014/main" id="{071E22EA-3434-44D6-A3DF-8314747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min() restituisce il minore dei due costi.</a:t>
            </a:r>
          </a:p>
        </p:txBody>
      </p:sp>
    </p:spTree>
    <p:extLst>
      <p:ext uri="{BB962C8B-B14F-4D97-AF65-F5344CB8AC3E}">
        <p14:creationId xmlns:p14="http://schemas.microsoft.com/office/powerpoint/2010/main" val="1732505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">
            <a:extLst xmlns:a="http://schemas.openxmlformats.org/drawingml/2006/main">
              <a:ext uri="{FF2B5EF4-FFF2-40B4-BE49-F238E27FC236}">
                <a16:creationId xmlns:a16="http://schemas.microsoft.com/office/drawing/2014/main" id="{81672B80-7AF7-4853-972B-5CE18520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BD130-014F-44B5-9B67-39D3BE50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Una chiamata con quattro viaggi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6EF07286-23A1-4EAF-B872-4CCE050F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730E847E-5C8D-4EFF-BF22-A7421A2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costo_minimo(4)">
            <a:extLst xmlns:a="http://schemas.openxmlformats.org/drawingml/2006/main">
              <a:ext uri="{FF2B5EF4-FFF2-40B4-BE49-F238E27FC236}">
                <a16:creationId xmlns:a16="http://schemas.microsoft.com/office/drawing/2014/main" id="{66E976DB-E5E1-4C1B-B0A3-6633229E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5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costo_minimo(4)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985E-7331-4255-94F2-6925DD43065A}"/>
              </a:ext>
            </a:extLst>
          </p:cNvPr>
          <p:cNvGraphicFramePr/>
          <p:nvPr/>
        </p:nvGraphicFramePr>
        <p:xfrm>
          <a:off xmlns:a="http://schemas.openxmlformats.org/drawingml/2006/main" x="857250" y="2543175"/>
          <a:ext xmlns:a="http://schemas.openxmlformats.org/drawingml/2006/main" cx="104775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5953125"/>
                <a:gridCol w="18097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 scelta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Calcolo completo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Un singolo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3 + costo_minimo(3)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12 €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Un carnet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 + costo_minimo(-1)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a funzione restituisce 10 €.">
            <a:extLst xmlns:a="http://schemas.openxmlformats.org/drawingml/2006/main">
              <a:ext uri="{FF2B5EF4-FFF2-40B4-BE49-F238E27FC236}">
                <a16:creationId xmlns:a16="http://schemas.microsoft.com/office/drawing/2014/main" id="{A113098B-50B7-4679-ADBE-C78360F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La funzione restituisce 10 €.</a:t>
            </a:r>
          </a:p>
        </p:txBody>
      </p:sp>
      <p:sp>
        <p:nvSpPr>
          <p:cNvPr id="8" name="Il valore -1 indica che avanza un biglietto. ">
            <a:extLst xmlns:a="http://schemas.openxmlformats.org/drawingml/2006/main">
              <a:ext uri="{FF2B5EF4-FFF2-40B4-BE49-F238E27FC236}">
                <a16:creationId xmlns:a16="http://schemas.microsoft.com/office/drawing/2014/main" id="{A7E7EB70-4105-406F-B323-76E8FD43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Il valore -1 indica che avanza un biglietto. Il costo residuo è zero.</a:t>
            </a:r>
          </a:p>
        </p:txBody>
      </p:sp>
    </p:spTree>
    <p:extLst>
      <p:ext uri="{BB962C8B-B14F-4D97-AF65-F5344CB8AC3E}">
        <p14:creationId xmlns:p14="http://schemas.microsoft.com/office/powerpoint/2010/main" val="1321738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">
            <a:extLst xmlns:a="http://schemas.openxmlformats.org/drawingml/2006/main">
              <a:ext uri="{FF2B5EF4-FFF2-40B4-BE49-F238E27FC236}">
                <a16:creationId xmlns:a16="http://schemas.microsoft.com/office/drawing/2014/main" id="{B664BB7F-A345-49F2-8C5C-2F70F55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A92F54-FFBC-484E-A2DC-C0573A9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Tre prodotti, due e-commerce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FA0C842C-1AEF-444F-B618-B6F3888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7">
            <a:extLst xmlns:a="http://schemas.openxmlformats.org/drawingml/2006/main">
              <a:ext uri="{FF2B5EF4-FFF2-40B4-BE49-F238E27FC236}">
                <a16:creationId xmlns:a16="http://schemas.microsoft.com/office/drawing/2014/main" id="{FC41A49F-0B5F-47F3-BD68-CFC81A9F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Un ufficio acquista un’unità di ciascun prodo">
            <a:extLst xmlns:a="http://schemas.openxmlformats.org/drawingml/2006/main">
              <a:ext uri="{FF2B5EF4-FFF2-40B4-BE49-F238E27FC236}">
                <a16:creationId xmlns:a16="http://schemas.microsoft.com/office/drawing/2014/main" id="{85EAFCFA-FABD-415A-85AC-7CA6B089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Un ufficio acquista un’unità di ciascun prodotto.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66F3F-5FAF-4405-B397-E81E69793D2F}"/>
              </a:ext>
            </a:extLst>
          </p:cNvPr>
          <p:cNvGraphicFramePr/>
          <p:nvPr/>
        </p:nvGraphicFramePr>
        <p:xfrm>
          <a:off xmlns:a="http://schemas.openxmlformats.org/drawingml/2006/main" x="1476375" y="2257425"/>
          <a:ext xmlns:a="http://schemas.openxmlformats.org/drawingml/2006/main" cx="9239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476500"/>
                <a:gridCol w="24765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Prodotto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Negozio A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Negozio B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Carta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20 €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22 €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Penne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30 €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32 €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Cartucce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40 €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38 €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Ogni negozio usato aggiunge 8 € di spedizione">
            <a:extLst xmlns:a="http://schemas.openxmlformats.org/drawingml/2006/main">
              <a:ext uri="{FF2B5EF4-FFF2-40B4-BE49-F238E27FC236}">
                <a16:creationId xmlns:a16="http://schemas.microsoft.com/office/drawing/2014/main" id="{53390F81-0DAD-486A-A8C8-3C661EF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Ogni negozio usato aggiunge 8 € di spedizione, senza soglie.</a:t>
            </a:r>
          </a:p>
        </p:txBody>
      </p:sp>
      <p:sp>
        <p:nvSpPr>
          <p:cNvPr id="8" name="Un negozio da cui non compriamo nulla costa z">
            <a:extLst xmlns:a="http://schemas.openxmlformats.org/drawingml/2006/main">
              <a:ext uri="{FF2B5EF4-FFF2-40B4-BE49-F238E27FC236}">
                <a16:creationId xmlns:a16="http://schemas.microsoft.com/office/drawing/2014/main" id="{11D74E2B-112F-4C76-B9F4-C754CD81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Un negozio da cui non compriamo nulla costa zero.</a:t>
            </a:r>
          </a:p>
        </p:txBody>
      </p:sp>
    </p:spTree>
    <p:extLst>
      <p:ext uri="{BB962C8B-B14F-4D97-AF65-F5344CB8AC3E}">
        <p14:creationId xmlns:p14="http://schemas.microsoft.com/office/powerpoint/2010/main" val="899499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">
            <a:extLst xmlns:a="http://schemas.openxmlformats.org/drawingml/2006/main">
              <a:ext uri="{FF2B5EF4-FFF2-40B4-BE49-F238E27FC236}">
                <a16:creationId xmlns:a16="http://schemas.microsoft.com/office/drawing/2014/main" id="{FA8ECB4A-330F-4C00-834A-049A44C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FB54DE-2F33-4C67-ADBD-BC9DDF8A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Le scelte stanno in un vettore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AE7E2228-2A36-497B-81A6-15DA3651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8">
            <a:extLst xmlns:a="http://schemas.openxmlformats.org/drawingml/2006/main">
              <a:ext uri="{FF2B5EF4-FFF2-40B4-BE49-F238E27FC236}">
                <a16:creationId xmlns:a16="http://schemas.microsoft.com/office/drawing/2014/main" id="{96093663-D5B9-4AC0-8435-A187785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80DEB-3B83-49EB-9F43-2B27721D9343}"/>
              </a:ext>
            </a:extLst>
          </p:cNvPr>
          <p:cNvGraphicFramePr/>
          <p:nvPr/>
        </p:nvGraphicFramePr>
        <p:xfrm>
          <a:off xmlns:a="http://schemas.openxmlformats.org/drawingml/2006/main" x="762000" y="173355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5722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scelte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Significato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c()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Nessuna scelta ancora presa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c("A")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Carta da 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c("A", "B")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Carta da A, penne da 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c("A", "B", "A")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Tutti e tre i prodotti sono assegnati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(scelte, &quot;A&quot;) aggiunge una scelta in fondo a">
            <a:extLst xmlns:a="http://schemas.openxmlformats.org/drawingml/2006/main">
              <a:ext uri="{FF2B5EF4-FFF2-40B4-BE49-F238E27FC236}">
                <a16:creationId xmlns:a16="http://schemas.microsoft.com/office/drawing/2014/main" id="{386C3D0A-5A3F-457F-AC3F-CA34AA2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c(scelte, "A") aggiunge una scelta in fondo al vettore.</a:t>
            </a:r>
          </a:p>
        </p:txBody>
      </p:sp>
      <p:sp>
        <p:nvSpPr>
          <p:cNvPr id="7" name="L’ordine è sempre: carta, penne, cartucce.">
            <a:extLst xmlns:a="http://schemas.openxmlformats.org/drawingml/2006/main">
              <a:ext uri="{FF2B5EF4-FFF2-40B4-BE49-F238E27FC236}">
                <a16:creationId xmlns:a16="http://schemas.microsoft.com/office/drawing/2014/main" id="{2141D26B-A24C-4F4F-8F3B-37399B0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L’ordine è sempre: carta, penne, cartucce.</a:t>
            </a:r>
          </a:p>
        </p:txBody>
      </p:sp>
    </p:spTree>
    <p:extLst>
      <p:ext uri="{BB962C8B-B14F-4D97-AF65-F5344CB8AC3E}">
        <p14:creationId xmlns:p14="http://schemas.microsoft.com/office/powerpoint/2010/main" val="1722295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B">
            <a:extLst xmlns:a="http://schemas.openxmlformats.org/drawingml/2006/main">
              <a:ext uri="{FF2B5EF4-FFF2-40B4-BE49-F238E27FC236}">
                <a16:creationId xmlns:a16="http://schemas.microsoft.com/office/drawing/2014/main" id="{4E454B38-B4F9-45B2-821E-8BE14E9D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D090F8-9D6E-4FDE-A269-797317A3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Il costo di una scelta completa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74A5779F-5DEA-4ABD-AE9D-3F38F07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9">
            <a:extLst xmlns:a="http://schemas.openxmlformats.org/drawingml/2006/main">
              <a:ext uri="{FF2B5EF4-FFF2-40B4-BE49-F238E27FC236}">
                <a16:creationId xmlns:a16="http://schemas.microsoft.com/office/drawing/2014/main" id="{E16EF980-39FC-4544-99EE-BCFAE15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costo &lt;- function(scelte){">
            <a:extLst xmlns:a="http://schemas.openxmlformats.org/drawingml/2006/main">
              <a:ext uri="{FF2B5EF4-FFF2-40B4-BE49-F238E27FC236}">
                <a16:creationId xmlns:a16="http://schemas.microsoft.com/office/drawing/2014/main" id="{ED0BC69A-C75F-48D4-BD11-3660443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costo &lt;- function(scelte){</a:t>
            </a:r>
          </a:p>
        </p:txBody>
      </p:sp>
      <p:sp>
        <p:nvSpPr>
          <p:cNvPr id="6" name="  totale_a &lt;- sum(prezzi_a[scelte == &quot;A&quot;])">
            <a:extLst xmlns:a="http://schemas.openxmlformats.org/drawingml/2006/main">
              <a:ext uri="{FF2B5EF4-FFF2-40B4-BE49-F238E27FC236}">
                <a16:creationId xmlns:a16="http://schemas.microsoft.com/office/drawing/2014/main" id="{888FA5D9-05C8-436A-925C-A5BF83A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totale_a &lt;- sum(prezzi_a[scelte == "A"])</a:t>
            </a:r>
          </a:p>
        </p:txBody>
      </p:sp>
      <p:sp>
        <p:nvSpPr>
          <p:cNvPr id="7" name="  totale_b &lt;- sum(prezzi_b[scelte == &quot;B&quot;])">
            <a:extLst xmlns:a="http://schemas.openxmlformats.org/drawingml/2006/main">
              <a:ext uri="{FF2B5EF4-FFF2-40B4-BE49-F238E27FC236}">
                <a16:creationId xmlns:a16="http://schemas.microsoft.com/office/drawing/2014/main" id="{01FC812E-B497-4E9D-9790-F973CE6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764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totale_b &lt;- sum(prezzi_b[scelte == "B"])</a:t>
            </a:r>
          </a:p>
        </p:txBody>
      </p:sp>
      <p:sp>
        <p:nvSpPr>
          <p:cNvPr id="8" name="  if(totale_a &gt; 0){">
            <a:extLst xmlns:a="http://schemas.openxmlformats.org/drawingml/2006/main">
              <a:ext uri="{FF2B5EF4-FFF2-40B4-BE49-F238E27FC236}">
                <a16:creationId xmlns:a16="http://schemas.microsoft.com/office/drawing/2014/main" id="{7150B63A-8C29-404A-974A-30CBB721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if(totale_a &gt; 0){</a:t>
            </a:r>
          </a:p>
        </p:txBody>
      </p:sp>
      <p:sp>
        <p:nvSpPr>
          <p:cNvPr id="9" name="    totale_a &lt;- totale_a + 8">
            <a:extLst xmlns:a="http://schemas.openxmlformats.org/drawingml/2006/main">
              <a:ext uri="{FF2B5EF4-FFF2-40B4-BE49-F238E27FC236}">
                <a16:creationId xmlns:a16="http://schemas.microsoft.com/office/drawing/2014/main" id="{F261D25C-9774-4C04-AFE6-31DBAC38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totale_a &lt;- totale_a + 8</a:t>
            </a:r>
          </a:p>
        </p:txBody>
      </p:sp>
      <p:sp>
        <p:nvSpPr>
          <p:cNvPr id="10" name="  }">
            <a:extLst xmlns:a="http://schemas.openxmlformats.org/drawingml/2006/main">
              <a:ext uri="{FF2B5EF4-FFF2-40B4-BE49-F238E27FC236}">
                <a16:creationId xmlns:a16="http://schemas.microsoft.com/office/drawing/2014/main" id="{D677C8BD-C453-4637-8BCE-E178CC5C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11" name="  if(totale_b &gt; 0){">
            <a:extLst xmlns:a="http://schemas.openxmlformats.org/drawingml/2006/main">
              <a:ext uri="{FF2B5EF4-FFF2-40B4-BE49-F238E27FC236}">
                <a16:creationId xmlns:a16="http://schemas.microsoft.com/office/drawing/2014/main" id="{54DBABF6-463A-4CF0-8BDD-7C1912AB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if(totale_b &gt; 0){</a:t>
            </a:r>
          </a:p>
        </p:txBody>
      </p:sp>
      <p:sp>
        <p:nvSpPr>
          <p:cNvPr id="12" name="    totale_b &lt;- totale_b + 8">
            <a:extLst xmlns:a="http://schemas.openxmlformats.org/drawingml/2006/main">
              <a:ext uri="{FF2B5EF4-FFF2-40B4-BE49-F238E27FC236}">
                <a16:creationId xmlns:a16="http://schemas.microsoft.com/office/drawing/2014/main" id="{AF4F2179-327D-4761-9BD1-7222393F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totale_b &lt;- totale_b + 8</a:t>
            </a:r>
          </a:p>
        </p:txBody>
      </p:sp>
      <p:sp>
        <p:nvSpPr>
          <p:cNvPr id="13" name="  }">
            <a:extLst xmlns:a="http://schemas.openxmlformats.org/drawingml/2006/main">
              <a:ext uri="{FF2B5EF4-FFF2-40B4-BE49-F238E27FC236}">
                <a16:creationId xmlns:a16="http://schemas.microsoft.com/office/drawing/2014/main" id="{7B97EC55-DF10-4895-B930-9677165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14" name="  return(totale_a + totale_b)">
            <a:extLst xmlns:a="http://schemas.openxmlformats.org/drawingml/2006/main">
              <a:ext uri="{FF2B5EF4-FFF2-40B4-BE49-F238E27FC236}">
                <a16:creationId xmlns:a16="http://schemas.microsoft.com/office/drawing/2014/main" id="{9814F5FC-5224-4B18-9309-B5B967EC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return(totale_a + totale_b)</a:t>
            </a:r>
          </a:p>
        </p:txBody>
      </p:sp>
      <p:sp>
        <p:nvSpPr>
          <p:cNvPr id="15" name="}">
            <a:extLst xmlns:a="http://schemas.openxmlformats.org/drawingml/2006/main">
              <a:ext uri="{FF2B5EF4-FFF2-40B4-BE49-F238E27FC236}">
                <a16:creationId xmlns:a16="http://schemas.microsoft.com/office/drawing/2014/main" id="{F993F671-EAE1-460A-86A4-3EBDEE95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6" name="I prezzi sono quelli dei due vettori definiti">
            <a:extLst xmlns:a="http://schemas.openxmlformats.org/drawingml/2006/main">
              <a:ext uri="{FF2B5EF4-FFF2-40B4-BE49-F238E27FC236}">
                <a16:creationId xmlns:a16="http://schemas.microsoft.com/office/drawing/2014/main" id="{D0703BD8-CAC7-4EE1-BDE0-449A1AB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I prezzi sono quelli dei due vettori definiti all’inizio del file.</a:t>
            </a:r>
          </a:p>
        </p:txBody>
      </p:sp>
    </p:spTree>
    <p:extLst>
      <p:ext uri="{BB962C8B-B14F-4D97-AF65-F5344CB8AC3E}">
        <p14:creationId xmlns:p14="http://schemas.microsoft.com/office/powerpoint/2010/main" val="100044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AB">
            <a:extLst xmlns:a="http://schemas.openxmlformats.org/drawingml/2006/main">
              <a:ext uri="{FF2B5EF4-FFF2-40B4-BE49-F238E27FC236}">
                <a16:creationId xmlns:a16="http://schemas.microsoft.com/office/drawing/2014/main" id="{DA385C1E-CF43-4E69-8433-B862969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EBF01C-5ECE-414D-9F7A-07831AB5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La ricerca del costo minimo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EF898E1A-8D5A-4644-809F-270B34FD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843AE75C-BBFB-47E4-989A-1CCE4209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inimo &lt;- function(scelte){">
            <a:extLst xmlns:a="http://schemas.openxmlformats.org/drawingml/2006/main">
              <a:ext uri="{FF2B5EF4-FFF2-40B4-BE49-F238E27FC236}">
                <a16:creationId xmlns:a16="http://schemas.microsoft.com/office/drawing/2014/main" id="{52D0997A-51AA-47C3-8701-C01F42D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859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minimo &lt;- function(scelte){</a:t>
            </a:r>
          </a:p>
        </p:txBody>
      </p:sp>
      <p:sp>
        <p:nvSpPr>
          <p:cNvPr id="6" name="  if(length(scelte) == length(prodotti)){">
            <a:extLst xmlns:a="http://schemas.openxmlformats.org/drawingml/2006/main">
              <a:ext uri="{FF2B5EF4-FFF2-40B4-BE49-F238E27FC236}">
                <a16:creationId xmlns:a16="http://schemas.microsoft.com/office/drawing/2014/main" id="{EAC9C624-F135-4528-8D79-A765941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if(length(scelte) == length(prodotti)){</a:t>
            </a:r>
          </a:p>
        </p:txBody>
      </p:sp>
      <p:sp>
        <p:nvSpPr>
          <p:cNvPr id="7" name="    return(costo(scelte))">
            <a:extLst xmlns:a="http://schemas.openxmlformats.org/drawingml/2006/main">
              <a:ext uri="{FF2B5EF4-FFF2-40B4-BE49-F238E27FC236}">
                <a16:creationId xmlns:a16="http://schemas.microsoft.com/office/drawing/2014/main" id="{C718089C-00BB-4CD7-8167-3593B95B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  return(costo(scelte))</a:t>
            </a:r>
          </a:p>
        </p:txBody>
      </p:sp>
      <p:sp>
        <p:nvSpPr>
          <p:cNvPr id="8" name="  }">
            <a:extLst xmlns:a="http://schemas.openxmlformats.org/drawingml/2006/main">
              <a:ext uri="{FF2B5EF4-FFF2-40B4-BE49-F238E27FC236}">
                <a16:creationId xmlns:a16="http://schemas.microsoft.com/office/drawing/2014/main" id="{9B0E9271-1B70-4E1E-B2A1-4B717C3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}</a:t>
            </a:r>
          </a:p>
        </p:txBody>
      </p:sp>
      <p:sp>
        <p:nvSpPr>
          <p:cNvPr id="9" name="  con_a &lt;- minimo(c(scelte, &quot;A&quot;))">
            <a:extLst xmlns:a="http://schemas.openxmlformats.org/drawingml/2006/main">
              <a:ext uri="{FF2B5EF4-FFF2-40B4-BE49-F238E27FC236}">
                <a16:creationId xmlns:a16="http://schemas.microsoft.com/office/drawing/2014/main" id="{0794A37E-99C5-47B8-960F-B2809B3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con_a &lt;- minimo(c(scelte, "A"))</a:t>
            </a:r>
          </a:p>
        </p:txBody>
      </p:sp>
      <p:sp>
        <p:nvSpPr>
          <p:cNvPr id="10" name="  con_b &lt;- minimo(c(scelte, &quot;B&quot;))">
            <a:extLst xmlns:a="http://schemas.openxmlformats.org/drawingml/2006/main">
              <a:ext uri="{FF2B5EF4-FFF2-40B4-BE49-F238E27FC236}">
                <a16:creationId xmlns:a16="http://schemas.microsoft.com/office/drawing/2014/main" id="{159F3EF8-794F-4165-8BB5-F1A2027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con_b &lt;- minimo(c(scelte, "B"))</a:t>
            </a:r>
          </a:p>
        </p:txBody>
      </p:sp>
      <p:sp>
        <p:nvSpPr>
          <p:cNvPr id="11" name="  return(min(con_a, con_b))">
            <a:extLst xmlns:a="http://schemas.openxmlformats.org/drawingml/2006/main">
              <a:ext uri="{FF2B5EF4-FFF2-40B4-BE49-F238E27FC236}">
                <a16:creationId xmlns:a16="http://schemas.microsoft.com/office/drawing/2014/main" id="{D7D9C959-DF2A-4EB0-9917-6D6B660C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  return(min(con_a, con_b))</a:t>
            </a:r>
          </a:p>
        </p:txBody>
      </p:sp>
      <p:sp>
        <p:nvSpPr>
          <p:cNvPr id="12" name="}">
            <a:extLst xmlns:a="http://schemas.openxmlformats.org/drawingml/2006/main">
              <a:ext uri="{FF2B5EF4-FFF2-40B4-BE49-F238E27FC236}">
                <a16:creationId xmlns:a16="http://schemas.microsoft.com/office/drawing/2014/main" id="{0536F268-6D4A-4D36-8D8A-6858B89C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202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3" name="Ogni chiamata aggiunge una scelta. Con tre sc">
            <a:extLst xmlns:a="http://schemas.openxmlformats.org/drawingml/2006/main">
              <a:ext uri="{FF2B5EF4-FFF2-40B4-BE49-F238E27FC236}">
                <a16:creationId xmlns:a16="http://schemas.microsoft.com/office/drawing/2014/main" id="{328D738E-B0E7-4DED-A319-07B0B4D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Ogni chiamata aggiunge una scelta. Con tre scelte si calcola il costo.</a:t>
            </a:r>
          </a:p>
        </p:txBody>
      </p:sp>
      <p:sp>
        <p:nvSpPr>
          <p:cNvPr id="14" name="minimo(c()) parte senza decisioni e restituis">
            <a:extLst xmlns:a="http://schemas.openxmlformats.org/drawingml/2006/main">
              <a:ext uri="{FF2B5EF4-FFF2-40B4-BE49-F238E27FC236}">
                <a16:creationId xmlns:a16="http://schemas.microsoft.com/office/drawing/2014/main" id="{6718F0C0-6B47-4F60-A5EA-925FDF82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minimo(c()) parte senza decisioni e restituisce un numero.</a:t>
            </a:r>
          </a:p>
        </p:txBody>
      </p:sp>
    </p:spTree>
    <p:extLst>
      <p:ext uri="{BB962C8B-B14F-4D97-AF65-F5344CB8AC3E}">
        <p14:creationId xmlns:p14="http://schemas.microsoft.com/office/powerpoint/2010/main" val="2014010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AB">
            <a:extLst xmlns:a="http://schemas.openxmlformats.org/drawingml/2006/main">
              <a:ext uri="{FF2B5EF4-FFF2-40B4-BE49-F238E27FC236}">
                <a16:creationId xmlns:a16="http://schemas.microsoft.com/office/drawing/2014/main" id="{E79B903A-FAF5-4314-9B76-2A2071C5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0FA78D-0468-4487-BEA5-75474169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Le otto combinazioni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020C57D0-5C24-40B7-9543-9439D616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9C57629D-4AD5-4445-B5D0-C4707478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6880C-54C1-4A7C-A218-9EB1A1432998}"/>
              </a:ext>
            </a:extLst>
          </p:cNvPr>
          <p:cNvGraphicFramePr/>
          <p:nvPr/>
        </p:nvGraphicFramePr>
        <p:xfrm>
          <a:off xmlns:a="http://schemas.openxmlformats.org/drawingml/2006/main" x="1238250" y="1571625"/>
          <a:ext xmlns:a="http://schemas.openxmlformats.org/drawingml/2006/main" cx="97155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3429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Carta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Penne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Cartucce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Totale con spedizione</a:t>
                      </a:r>
                    </a:p>
                  </a:txBody>
                  <a:tcPr marL="142875" marR="142875" marT="57150" marB="57150" anchor="ctr">
                    <a:solidFill>
                      <a:srgbClr val="1434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98 €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104 €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108 €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106 €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108 €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106 €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110 €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1C27"/>
                          </a:solidFill>
                          <a:latin typeface="Arial"/>
                          <a:ea typeface="Arial"/>
                          <a:cs typeface="Arial"/>
                        </a:rPr>
                        <a:t>100 €</a:t>
                      </a:r>
                    </a:p>
                  </a:txBody>
                  <a:tcPr marL="142875" marR="14287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minimo(c()) restituisce 98 €. In questo caso ">
            <a:extLst xmlns:a="http://schemas.openxmlformats.org/drawingml/2006/main">
              <a:ext uri="{FF2B5EF4-FFF2-40B4-BE49-F238E27FC236}">
                <a16:creationId xmlns:a16="http://schemas.microsoft.com/office/drawing/2014/main" id="{1605C9D8-A274-4A73-B7D4-6D0694C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minimo(c()) restituisce 98 €. In questo caso conviene tutto da A.</a:t>
            </a:r>
          </a:p>
        </p:txBody>
      </p:sp>
    </p:spTree>
    <p:extLst>
      <p:ext uri="{BB962C8B-B14F-4D97-AF65-F5344CB8AC3E}">
        <p14:creationId xmlns:p14="http://schemas.microsoft.com/office/powerpoint/2010/main" val="2041207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B">
            <a:extLst xmlns:a="http://schemas.openxmlformats.org/drawingml/2006/main">
              <a:ext uri="{FF2B5EF4-FFF2-40B4-BE49-F238E27FC236}">
                <a16:creationId xmlns:a16="http://schemas.microsoft.com/office/drawing/2014/main" id="{DF8FED00-D209-42CC-86B9-250A7BC3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106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45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853FB2-7D9C-4F42-96FD-7EACFD4B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2450"/>
            <a:ext cx="938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Le prove in RStudio</a:t>
            </a:r>
          </a:p>
        </p:txBody>
      </p:sp>
      <p:sp>
        <p:nvSpPr>
          <p:cNvPr id="3" name="Coding e Fondamenti di IA - Vincenzo Nardelli">
            <a:extLst xmlns:a="http://schemas.openxmlformats.org/drawingml/2006/main">
              <a:ext uri="{FF2B5EF4-FFF2-40B4-BE49-F238E27FC236}">
                <a16:creationId xmlns:a16="http://schemas.microsoft.com/office/drawing/2014/main" id="{3A8D2C82-474B-4541-99C0-1792DB18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4579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Coding e Fondamenti di IA - Vincenzo Nardelli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D9C928DA-9D57-42C1-98D9-4B36919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1. Calcolare due ordini completi">
            <a:extLst xmlns:a="http://schemas.openxmlformats.org/drawingml/2006/main">
              <a:ext uri="{FF2B5EF4-FFF2-40B4-BE49-F238E27FC236}">
                <a16:creationId xmlns:a16="http://schemas.microsoft.com/office/drawing/2014/main" id="{FB20EEE4-A8C0-494A-94B6-1839791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1. Calcolare due ordini completi</a:t>
            </a:r>
          </a:p>
        </p:txBody>
      </p:sp>
      <p:sp>
        <p:nvSpPr>
          <p:cNvPr id="6" name="costo(c(&quot;A&quot;, &quot;A&quot;, &quot;A&quot;))  # 98">
            <a:extLst xmlns:a="http://schemas.openxmlformats.org/drawingml/2006/main">
              <a:ext uri="{FF2B5EF4-FFF2-40B4-BE49-F238E27FC236}">
                <a16:creationId xmlns:a16="http://schemas.microsoft.com/office/drawing/2014/main" id="{CF459526-5986-4FFA-BD75-55CFC54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costo(c("A", "A", "A"))  # 98</a:t>
            </a:r>
          </a:p>
        </p:txBody>
      </p:sp>
      <p:sp>
        <p:nvSpPr>
          <p:cNvPr id="7" name="costo(c(&quot;A&quot;, &quot;A&quot;, &quot;B&quot;))  # 104">
            <a:extLst xmlns:a="http://schemas.openxmlformats.org/drawingml/2006/main">
              <a:ext uri="{FF2B5EF4-FFF2-40B4-BE49-F238E27FC236}">
                <a16:creationId xmlns:a16="http://schemas.microsoft.com/office/drawing/2014/main" id="{D2872D85-7AD6-4080-AA85-C2C7337C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defRPr>
            </a:pPr>
            <a:r>
              <a:rPr sz="1875" b="0">
                <a:solidFill>
                  <a:srgbClr val="14345B"/>
                </a:solidFill>
                <a:latin typeface="Courier New"/>
                <a:ea typeface="Courier New"/>
                <a:cs typeface="Courier New"/>
              </a:rPr>
              <a:t>costo(c("A", "A", "B"))  # 104</a:t>
            </a:r>
          </a:p>
        </p:txBody>
      </p:sp>
      <p:sp>
        <p:nvSpPr>
          <p:cNvPr id="8" name="2. Fissare il primo acquisto da B">
            <a:extLst xmlns:a="http://schemas.openxmlformats.org/drawingml/2006/main">
              <a:ext uri="{FF2B5EF4-FFF2-40B4-BE49-F238E27FC236}">
                <a16:creationId xmlns:a16="http://schemas.microsoft.com/office/drawing/2014/main" id="{C4F59C8A-C06A-49B6-B4E4-9D665CE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2. Fissare il primo acquisto da B</a:t>
            </a:r>
          </a:p>
        </p:txBody>
      </p:sp>
      <p:sp>
        <p:nvSpPr>
          <p:cNvPr id="9" name="minimo(c(&quot;B&quot;)) restituisce 100. Quali scelte ">
            <a:extLst xmlns:a="http://schemas.openxmlformats.org/drawingml/2006/main">
              <a:ext uri="{FF2B5EF4-FFF2-40B4-BE49-F238E27FC236}">
                <a16:creationId xmlns:a16="http://schemas.microsoft.com/office/drawing/2014/main" id="{BF110F35-A849-4EF0-AD3B-BFAF321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minimo(c("B")) restituisce 100. Quali scelte ha confrontato?</a:t>
            </a:r>
          </a:p>
        </p:txBody>
      </p:sp>
      <p:sp>
        <p:nvSpPr>
          <p:cNvPr id="10" name="3. Cambiare i prezzi delle cartucce">
            <a:extLst xmlns:a="http://schemas.openxmlformats.org/drawingml/2006/main">
              <a:ext uri="{FF2B5EF4-FFF2-40B4-BE49-F238E27FC236}">
                <a16:creationId xmlns:a16="http://schemas.microsoft.com/office/drawing/2014/main" id="{8BF7ACE1-575D-4368-9036-9872107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1C27"/>
                </a:solidFill>
                <a:latin typeface="Arial"/>
                <a:ea typeface="Arial"/>
                <a:cs typeface="Arial"/>
              </a:rPr>
              <a:t>3. Cambiare i prezzi delle cartucce</a:t>
            </a:r>
          </a:p>
        </p:txBody>
      </p:sp>
      <p:sp>
        <p:nvSpPr>
          <p:cNvPr id="11" name="Prevedere il risultato, eseguire il codice e ">
            <a:extLst xmlns:a="http://schemas.openxmlformats.org/drawingml/2006/main">
              <a:ext uri="{FF2B5EF4-FFF2-40B4-BE49-F238E27FC236}">
                <a16:creationId xmlns:a16="http://schemas.microsoft.com/office/drawing/2014/main" id="{49F0AED9-D0D7-43A4-8989-D2572E2A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1C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1C27"/>
                </a:solidFill>
                <a:latin typeface="Arial"/>
                <a:ea typeface="Arial"/>
                <a:cs typeface="Arial"/>
              </a:rPr>
              <a:t>Prevedere il risultato, eseguire il codice e spiegare la differenza.</a:t>
            </a:r>
          </a:p>
        </p:txBody>
      </p:sp>
      <p:sp>
        <p:nvSpPr>
          <p:cNvPr id="12" name="Codici e slide: vincnardelli.com/cia, modulo ">
            <a:extLst xmlns:a="http://schemas.openxmlformats.org/drawingml/2006/main">
              <a:ext uri="{FF2B5EF4-FFF2-40B4-BE49-F238E27FC236}">
                <a16:creationId xmlns:a16="http://schemas.microsoft.com/office/drawing/2014/main" id="{5DF0D6C2-09EB-420D-8A8B-EA236184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809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809D"/>
                </a:solidFill>
                <a:latin typeface="Arial"/>
                <a:ea typeface="Arial"/>
                <a:cs typeface="Arial"/>
              </a:rPr>
              <a:t>Codici e slide: vincnardelli.com/cia, modulo 3, lezione 6</a:t>
            </a:r>
          </a:p>
        </p:txBody>
      </p:sp>
    </p:spTree>
    <p:extLst>
      <p:ext uri="{BB962C8B-B14F-4D97-AF65-F5344CB8AC3E}">
        <p14:creationId xmlns:p14="http://schemas.microsoft.com/office/powerpoint/2010/main" val="2049196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Vincenzo Nardelli</dc:creator>
  <ns0:lastModifiedBy>Walnut Exporter</ns0:lastModifiedBy>
  <dc:title>Coding e Fondamenti di Intelligenza Artificiale - Lezione 6</dc:title>
  <ns2:created xsi:type="dcterms:W3CDTF">2026-10-08T23:49:01.5350000Z</ns2:created>
  <ns2:modified xsi:type="dcterms:W3CDTF">2026-10-08T23:49:01.5350000Z</ns2:modified>
  <dc:subject>Funzioni e ricorsione in R</dc:subject>
</ns0:coreProperties>
</file>